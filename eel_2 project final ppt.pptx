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yne Extra Bold"/>
      <p:regular r:id="rId17"/>
    </p:embeddedFont>
    <p:embeddedFont>
      <p:font typeface="Syne"/>
      <p:regular r:id="rId18"/>
    </p:embeddedFont>
    <p:embeddedFont>
      <p:font typeface="Syn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924758"/>
            <a:ext cx="3194804" cy="426244"/>
          </a:xfrm>
          <a:prstGeom prst="roundRect">
            <a:avLst>
              <a:gd name="adj" fmla="val 17880"/>
            </a:avLst>
          </a:prstGeom>
          <a:solidFill>
            <a:srgbClr val="334805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992743"/>
            <a:ext cx="29226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EEL2 PROJECT · SEM-II, A.Y. 2025-26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144172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FinPilot — Financial Management Web Application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461700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Figma-designed personal finance tool for budgeting, expense tracking, and goal setting.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59796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Group: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Aadya Lomte (B25IT1165) · Shubham Pohakar (B25IT1180) · Raunak Meshram (B25IT1182) · Rohit Pravin Kadam (B25IT1184)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57891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Guide: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Mrs. Nishanthi Naidu  | 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Dept: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Engineering Science &amp; Humanities, MMCOE, Pune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860108"/>
            <a:ext cx="1288852" cy="333018"/>
          </a:xfrm>
          <a:prstGeom prst="roundRect">
            <a:avLst>
              <a:gd name="adj" fmla="val 18309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96633" y="922139"/>
            <a:ext cx="105596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80190" y="1251109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The Problem with Personal Finance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6280190" y="2602706"/>
            <a:ext cx="7556421" cy="1017508"/>
          </a:xfrm>
          <a:prstGeom prst="roundRect">
            <a:avLst>
              <a:gd name="adj" fmla="val 749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9261" y="2791778"/>
            <a:ext cx="336673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📋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No Clear System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469261" y="3169920"/>
            <a:ext cx="71782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Most people lack a structured way to record and review finances, leading to overspending.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80190" y="3765352"/>
            <a:ext cx="7556421" cy="1017508"/>
          </a:xfrm>
          <a:prstGeom prst="roundRect">
            <a:avLst>
              <a:gd name="adj" fmla="val 749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9261" y="3954423"/>
            <a:ext cx="357128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📊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Invisible Spending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469261" y="4332565"/>
            <a:ext cx="71782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Without visual summaries, users cannot identify where their money goes each month.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80190" y="4927997"/>
            <a:ext cx="7556421" cy="1017508"/>
          </a:xfrm>
          <a:prstGeom prst="roundRect">
            <a:avLst>
              <a:gd name="adj" fmla="val 749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9261" y="5117068"/>
            <a:ext cx="4045029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🎯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Unmotivated Saving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469261" y="5495211"/>
            <a:ext cx="71782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Abstract goals without progress tracking fail to motivate consistent saving behavior.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80190" y="6090642"/>
            <a:ext cx="7556421" cy="1278731"/>
          </a:xfrm>
          <a:prstGeom prst="roundRect">
            <a:avLst>
              <a:gd name="adj" fmla="val 596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9261" y="6279713"/>
            <a:ext cx="415480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📱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83% Use Digital Tools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469261" y="6657856"/>
            <a:ext cx="7178278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consumer survey shows strong demand for financial apps — yet many existing tools are too complex.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72302"/>
            <a:ext cx="933807" cy="283250"/>
          </a:xfrm>
          <a:prstGeom prst="roundRect">
            <a:avLst>
              <a:gd name="adj" fmla="val 18835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660" y="1327547"/>
            <a:ext cx="728067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1599962"/>
            <a:ext cx="897005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What FinPilot Sets Out to Do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58214"/>
            <a:ext cx="5839539" cy="350365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0365" y="2392680"/>
            <a:ext cx="238125" cy="238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46732" y="2387798"/>
            <a:ext cx="3797379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Track Income &amp; Expenses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0046732" y="2994898"/>
            <a:ext cx="3797379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Easy entry with categories, dates, and payment methods.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0365" y="3654028"/>
            <a:ext cx="238125" cy="2381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46732" y="3649147"/>
            <a:ext cx="349746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Set &amp; Monitor Budgets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0046732" y="4008239"/>
            <a:ext cx="379737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Monthly limits per category with overspending alerts.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90365" y="4451390"/>
            <a:ext cx="238125" cy="2381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46732" y="4446508"/>
            <a:ext cx="348365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Savings Goal Tracking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0046732" y="4805601"/>
            <a:ext cx="379737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Progress bars and milestones to keep users motivated.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0365" y="5248751"/>
            <a:ext cx="238125" cy="2381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46732" y="5243870"/>
            <a:ext cx="372046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Clear Visual Dashboard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0046732" y="5602962"/>
            <a:ext cx="379737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Charts, balances, and trends at a glance — no clutter.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90365" y="6046113"/>
            <a:ext cx="238125" cy="2381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46732" y="6041231"/>
            <a:ext cx="36968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Intuitive UI for Everyone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10046732" y="6400324"/>
            <a:ext cx="3797379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Designed for non-technical users with a clean Figma prototype.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751" y="399336"/>
            <a:ext cx="1078468" cy="240506"/>
          </a:xfrm>
          <a:prstGeom prst="roundRect">
            <a:avLst>
              <a:gd name="adj" fmla="val 19311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4238" y="448389"/>
            <a:ext cx="897493" cy="14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DESIGN 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3751" y="673418"/>
            <a:ext cx="6151007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From Idea to Interface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51" y="1231583"/>
            <a:ext cx="13662898" cy="61482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41835" y="1360082"/>
            <a:ext cx="2390993" cy="738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User Research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2541835" y="2204155"/>
            <a:ext cx="2390993" cy="475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Survey 25 and 5 interviews</a:t>
            </a:r>
            <a:endParaRPr lang="en-US" sz="1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9101" y="3161948"/>
            <a:ext cx="529599" cy="5295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06554" y="5971283"/>
            <a:ext cx="2404130" cy="738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Brainstorming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4906554" y="6815357"/>
            <a:ext cx="2404130" cy="475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List features and prioritize</a:t>
            </a:r>
            <a:endParaRPr lang="en-US" sz="1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3820" y="5093135"/>
            <a:ext cx="529598" cy="5295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44997" y="1314101"/>
            <a:ext cx="2390993" cy="738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Wireframing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7244997" y="2158175"/>
            <a:ext cx="2390993" cy="475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Rough layouts and task flows</a:t>
            </a:r>
            <a:endParaRPr lang="en-US" sz="1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1675" y="3109399"/>
            <a:ext cx="529599" cy="5295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9716" y="5971283"/>
            <a:ext cx="2390994" cy="738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High-Fidelity UI</a:t>
            </a:r>
            <a:endParaRPr lang="en-US" sz="2300" dirty="0"/>
          </a:p>
        </p:txBody>
      </p:sp>
      <p:sp>
        <p:nvSpPr>
          <p:cNvPr id="16" name="Text 10"/>
          <p:cNvSpPr/>
          <p:nvPr/>
        </p:nvSpPr>
        <p:spPr>
          <a:xfrm>
            <a:off x="9609716" y="6815357"/>
            <a:ext cx="2390994" cy="475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Figma screens and prototype</a:t>
            </a:r>
            <a:endParaRPr lang="en-US" sz="1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46982" y="5093135"/>
            <a:ext cx="529598" cy="5295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3751" y="7474506"/>
            <a:ext cx="13662898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Our team surveyed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25 respondents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and interviewed </a:t>
            </a:r>
            <a:pPr algn="l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 stakeholders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(student, professional, homemaker, business owner, retiree). Key insight: users want to log expenses in under 10 seconds and prefer charts over tables. This shaped every design decision.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74740"/>
            <a:ext cx="1524476" cy="385882"/>
          </a:xfrm>
          <a:prstGeom prst="roundRect">
            <a:avLst>
              <a:gd name="adj" fmla="val 17776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3806" y="843558"/>
            <a:ext cx="126444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USER RESEARCH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34083"/>
            <a:ext cx="1017698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Understanding Our Users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93790" y="2331244"/>
            <a:ext cx="424707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Three Core Personas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3790" y="2856786"/>
            <a:ext cx="6272451" cy="1274326"/>
          </a:xfrm>
          <a:prstGeom prst="roundRect">
            <a:avLst>
              <a:gd name="adj" fmla="val 8611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2856786"/>
            <a:ext cx="91440" cy="1274326"/>
          </a:xfrm>
          <a:prstGeom prst="roundRect">
            <a:avLst>
              <a:gd name="adj" fmla="val 93767"/>
            </a:avLst>
          </a:prstGeom>
          <a:solidFill>
            <a:srgbClr val="A9F00F"/>
          </a:solidFill>
          <a:ln/>
        </p:spPr>
      </p:sp>
      <p:sp>
        <p:nvSpPr>
          <p:cNvPr id="8" name="Text 6"/>
          <p:cNvSpPr/>
          <p:nvPr/>
        </p:nvSpPr>
        <p:spPr>
          <a:xfrm>
            <a:off x="1089303" y="3083719"/>
            <a:ext cx="429696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🎓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Rahul, 20 — Student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89303" y="3593902"/>
            <a:ext cx="575000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Needs quick daily expense logging for hostel budget.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3790" y="4314825"/>
            <a:ext cx="6272451" cy="1274326"/>
          </a:xfrm>
          <a:prstGeom prst="roundRect">
            <a:avLst>
              <a:gd name="adj" fmla="val 8611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0930" y="4314825"/>
            <a:ext cx="91440" cy="1274326"/>
          </a:xfrm>
          <a:prstGeom prst="roundRect">
            <a:avLst>
              <a:gd name="adj" fmla="val 93767"/>
            </a:avLst>
          </a:prstGeom>
          <a:solidFill>
            <a:srgbClr val="A9F00F"/>
          </a:solidFill>
          <a:ln/>
        </p:spPr>
      </p:sp>
      <p:sp>
        <p:nvSpPr>
          <p:cNvPr id="12" name="Text 10"/>
          <p:cNvSpPr/>
          <p:nvPr/>
        </p:nvSpPr>
        <p:spPr>
          <a:xfrm>
            <a:off x="1089303" y="4541758"/>
            <a:ext cx="5510927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💼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Priya, 28 — IT Professional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89303" y="5051941"/>
            <a:ext cx="575000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Wants budget control across UPI, cards, and savings goals.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3790" y="5772864"/>
            <a:ext cx="6272451" cy="1274326"/>
          </a:xfrm>
          <a:prstGeom prst="roundRect">
            <a:avLst>
              <a:gd name="adj" fmla="val 8611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0930" y="5772864"/>
            <a:ext cx="91440" cy="1274326"/>
          </a:xfrm>
          <a:prstGeom prst="roundRect">
            <a:avLst>
              <a:gd name="adj" fmla="val 93767"/>
            </a:avLst>
          </a:prstGeom>
          <a:solidFill>
            <a:srgbClr val="A9F00F"/>
          </a:solidFill>
          <a:ln/>
        </p:spPr>
      </p:sp>
      <p:sp>
        <p:nvSpPr>
          <p:cNvPr id="16" name="Text 14"/>
          <p:cNvSpPr/>
          <p:nvPr/>
        </p:nvSpPr>
        <p:spPr>
          <a:xfrm>
            <a:off x="1089303" y="5999798"/>
            <a:ext cx="5369600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🏠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Sunita, 45 — Homemaker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89303" y="6509980"/>
            <a:ext cx="575000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Needs category-wise breakdowns for household planning.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71780" y="2331244"/>
            <a:ext cx="6272451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Survey Findings (25 Responses)</a:t>
            </a:r>
            <a:endParaRPr lang="en-US" sz="2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780" y="3175635"/>
            <a:ext cx="5645110" cy="332910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71780" y="6669048"/>
            <a:ext cx="62724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60% relied on manual methods — confirming the need for a simple, dedicated tool.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5561"/>
            <a:ext cx="2705933" cy="413147"/>
          </a:xfrm>
          <a:prstGeom prst="roundRect">
            <a:avLst>
              <a:gd name="adj" fmla="val 17525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592" y="747713"/>
            <a:ext cx="243232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INFORMATION ARCHITECTURE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170503"/>
            <a:ext cx="992552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User Flow &amp; Navigation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260" y="2150983"/>
            <a:ext cx="11993761" cy="450056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61020" y="3297357"/>
            <a:ext cx="619519" cy="619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09066" y="5384752"/>
            <a:ext cx="1808998" cy="69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Analytics</a:t>
            </a:r>
            <a:endParaRPr lang="en-US" sz="2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2996" y="3298519"/>
            <a:ext cx="619520" cy="619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29233" y="5384752"/>
            <a:ext cx="1808998" cy="69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Set Budget</a:t>
            </a:r>
            <a:endParaRPr lang="en-US" sz="2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5552" y="3298519"/>
            <a:ext cx="619520" cy="6195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61789" y="5384752"/>
            <a:ext cx="1808998" cy="69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Add Entry</a:t>
            </a:r>
            <a:endParaRPr lang="en-US" sz="2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8109" y="3298519"/>
            <a:ext cx="619520" cy="6195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194345" y="5384752"/>
            <a:ext cx="1808998" cy="69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Dashboard</a:t>
            </a:r>
            <a:endParaRPr lang="en-US" sz="21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78275" y="3298519"/>
            <a:ext cx="619520" cy="6195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77340" y="5558993"/>
            <a:ext cx="1808999" cy="34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Login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793790" y="6881813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app uses a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bottom navigation bar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with 5 modules: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Home, Expenses, Goals, Analytics,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and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Profile.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Every screen is reachable within 2 taps from the dashboard, ensuring fast, intuitive navigation for all user types.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7468"/>
            <a:ext cx="128861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773073"/>
            <a:ext cx="100119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UI SCREENS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29678"/>
            <a:ext cx="128897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Authentication &amp; Dashboard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78618"/>
            <a:ext cx="5486400" cy="3390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952887"/>
            <a:ext cx="42398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Dashboard Screen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443305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Shows total balance, quick-action buttons for income/expenses, recent transactions, and savings goal progress. Balance can be hidden for privacy.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278618"/>
            <a:ext cx="5486519" cy="3390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6884" y="5953006"/>
            <a:ext cx="39106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Goals &amp; Analytics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6443424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Lists savings goals with progress bars and deadlines. Analytics shows weekly spending charts, top categories, and average daily spend.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34522"/>
            <a:ext cx="128861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10126"/>
            <a:ext cx="100119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UI SCREENS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6673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Transactions, Settings &amp; Analytics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24451"/>
            <a:ext cx="2411968" cy="1490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998601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Cash Flow &amp; Breakdown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84334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Net cash flow with trend charts and a donut chart showing spending by category with percentage labels.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224451"/>
            <a:ext cx="2411968" cy="1490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998601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Monthly Comparison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84334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Bar chart comparing income vs. expenses across months, highlighting net savings and seasonal trends.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224451"/>
            <a:ext cx="2411968" cy="14906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998601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Settings &amp; Notifications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5843349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Toggle controls for bill reminders, budget alerts, and goal milestones. Security, preferences, and data privacy options included.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26068"/>
            <a:ext cx="1397318" cy="358854"/>
          </a:xfrm>
          <a:prstGeom prst="roundRect">
            <a:avLst>
              <a:gd name="adj" fmla="val 18052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7019" y="991433"/>
            <a:ext cx="1150858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350407"/>
            <a:ext cx="1063656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Style Guide &amp; Visual Identity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93790" y="2362438"/>
            <a:ext cx="25086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Color Palette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93790" y="272915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Typography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3194209"/>
            <a:ext cx="628626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typeface — 24pt titles, 14pt body, 12pt captions. Buttons minimum 48pt for easy tapping.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57968" y="2362438"/>
            <a:ext cx="475249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UI Component Principles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535108" y="2825115"/>
            <a:ext cx="45720" cy="1382554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0" name="Text 8"/>
          <p:cNvSpPr/>
          <p:nvPr/>
        </p:nvSpPr>
        <p:spPr>
          <a:xfrm>
            <a:off x="7796451" y="2847975"/>
            <a:ext cx="280225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Rounded Cards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796451" y="3614261"/>
            <a:ext cx="280225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Consistent corner radius across all screens for visual harmony.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80633" y="2825115"/>
            <a:ext cx="45720" cy="1382554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1975" y="2847975"/>
            <a:ext cx="262163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Progress Bars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1041975" y="3313033"/>
            <a:ext cx="280225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Gradient fills with percentage labels for goal tracking.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35108" y="4489609"/>
            <a:ext cx="45720" cy="1382554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6" name="Text 14"/>
          <p:cNvSpPr/>
          <p:nvPr/>
        </p:nvSpPr>
        <p:spPr>
          <a:xfrm>
            <a:off x="7796451" y="45124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Dark Theme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796451" y="4977527"/>
            <a:ext cx="280225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Reduces eye strain; green symbolizes money and growth.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780633" y="4489609"/>
            <a:ext cx="45720" cy="1382554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1975" y="4512469"/>
            <a:ext cx="280225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Consistent Icons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11041975" y="5278755"/>
            <a:ext cx="280225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Uniform icon set; active nav icons use primary green.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3790" y="6217920"/>
            <a:ext cx="3137773" cy="1085493"/>
          </a:xfrm>
          <a:prstGeom prst="roundRect">
            <a:avLst>
              <a:gd name="adj" fmla="val 746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4172" y="641830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Background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994172" y="6817757"/>
            <a:ext cx="273700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#1C1C1E — Dark charcoal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095393" y="6217920"/>
            <a:ext cx="3137892" cy="1085493"/>
          </a:xfrm>
          <a:prstGeom prst="roundRect">
            <a:avLst>
              <a:gd name="adj" fmla="val 746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5775" y="641830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Primary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4295775" y="6817757"/>
            <a:ext cx="273712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#34C759 — Green accent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97115" y="6217920"/>
            <a:ext cx="3137773" cy="1085493"/>
          </a:xfrm>
          <a:prstGeom prst="roundRect">
            <a:avLst>
              <a:gd name="adj" fmla="val 746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97497" y="6418302"/>
            <a:ext cx="25616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Expense Red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597497" y="6817757"/>
            <a:ext cx="273700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#FF3B30 — Warnings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698718" y="6217920"/>
            <a:ext cx="3137892" cy="1085493"/>
          </a:xfrm>
          <a:prstGeom prst="roundRect">
            <a:avLst>
              <a:gd name="adj" fmla="val 746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99100" y="641830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Text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10899100" y="6817757"/>
            <a:ext cx="273712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#FFFFFF / #8E8E93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0925"/>
            <a:ext cx="1777722" cy="307658"/>
          </a:xfrm>
          <a:prstGeom prst="roundRect">
            <a:avLst>
              <a:gd name="adj" fmla="val 18579"/>
            </a:avLst>
          </a:prstGeom>
          <a:noFill/>
          <a:ln w="7620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3446" y="789503"/>
            <a:ext cx="15584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&amp; CONCLUSION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089541"/>
            <a:ext cx="1036534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Final Outcome &amp; Future Scope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93790" y="1940004"/>
            <a:ext cx="329934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What We Delivered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2333268"/>
            <a:ext cx="6313884" cy="132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25+ unique screens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connected by 50+ interaction links in Figma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Complete clickable prototype: login → dashboard → transactions → goals → analytics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Usability tested with 5 participants —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100% success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on login and goals tasks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Dark theme with green accents for a modern, trustworthy identity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3790" y="3801308"/>
            <a:ext cx="6313884" cy="846058"/>
          </a:xfrm>
          <a:prstGeom prst="roundRect">
            <a:avLst>
              <a:gd name="adj" fmla="val 8445"/>
            </a:avLst>
          </a:prstGeom>
          <a:solidFill>
            <a:srgbClr val="183A1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811" y="4040267"/>
            <a:ext cx="212646" cy="170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6478" y="3971330"/>
            <a:ext cx="55911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Design objectives met: budgeting, expense tracking, goal setting, and intuitive UI — all validated through user testing.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30346" y="1940004"/>
            <a:ext cx="227457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Future Scope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530346" y="2349222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30346" y="2615446"/>
            <a:ext cx="6313884" cy="2286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3" name="Text 10"/>
          <p:cNvSpPr/>
          <p:nvPr/>
        </p:nvSpPr>
        <p:spPr>
          <a:xfrm>
            <a:off x="7530346" y="2746177"/>
            <a:ext cx="343471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Bank API Integration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30346" y="3139440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Auto-import transactions via UPI and bank connections.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30346" y="3632597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530346" y="3898821"/>
            <a:ext cx="6313884" cy="2286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7" name="Text 14"/>
          <p:cNvSpPr/>
          <p:nvPr/>
        </p:nvSpPr>
        <p:spPr>
          <a:xfrm>
            <a:off x="7530346" y="4029551"/>
            <a:ext cx="576107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Mobile App (React Native / Flutter)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530346" y="4422815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Native iOS and Android builds from Figma designs.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30346" y="4915972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530346" y="5182195"/>
            <a:ext cx="6313884" cy="2286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21" name="Text 18"/>
          <p:cNvSpPr/>
          <p:nvPr/>
        </p:nvSpPr>
        <p:spPr>
          <a:xfrm>
            <a:off x="7530346" y="5312926"/>
            <a:ext cx="336030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AI Spending Insights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530346" y="5706189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ML-based predictions and personalized budget suggestions.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30346" y="6199346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530346" y="6465570"/>
            <a:ext cx="6313884" cy="2286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25" name="Text 22"/>
          <p:cNvSpPr/>
          <p:nvPr/>
        </p:nvSpPr>
        <p:spPr>
          <a:xfrm>
            <a:off x="7530346" y="6596301"/>
            <a:ext cx="386738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OCR Receipt Scanning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7530346" y="6989564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Auto-extract transaction details to reduce manual entry.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2026-05-03T15:02:17Z</dcterms:created>
  <dcterms:modified xsi:type="dcterms:W3CDTF">2026-05-03T15:02:17Z</dcterms:modified>
</cp:coreProperties>
</file>